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>
            <a:off x="914400" y="1828800"/>
            <a:ext cx="10058400" cy="3200400"/>
          </a:xfrm>
          <a:prstGeom prst="chevron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منصة الأكاديمية الإلكترونية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7A061"/>
                </a:solidFill>
              </a:defRPr>
            </a:pPr>
            <a:r>
              <a:t>التوثيق الشامل للنظام: المتطلبات، السيناريوهات، والمعمارية التقنية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أجندة العرض التقديمي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2C3E50"/>
                </a:solidFill>
              </a:defRPr>
            </a:pPr>
            <a:r>
              <a:t>• الرؤية العامة للمنصة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2C3E50"/>
                </a:solidFill>
              </a:defRPr>
            </a:pPr>
            <a:r>
              <a:t>• المتطلبات الوظيفية (Functional)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51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2C3E50"/>
                </a:solidFill>
              </a:defRPr>
            </a:pPr>
            <a:r>
              <a:t>• المتطلبات غير الوظيفية (Non-Functional)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91839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2C3E50"/>
                </a:solidFill>
              </a:defRPr>
            </a:pPr>
            <a:r>
              <a:t>• سيناريوهات الاستخدام التفصيلية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931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2C3E50"/>
                </a:solidFill>
              </a:defRPr>
            </a:pPr>
            <a:r>
              <a:t>• البنية التحتية والتقنيات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2C3E50"/>
                </a:solidFill>
              </a:defRPr>
            </a:pPr>
            <a:r>
              <a:t>• الخريطة المستقبلية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C7A061"/>
                </a:solidFill>
              </a:defRPr>
            </a:pPr>
            <a:r>
              <a:t>الرؤية والوصف الشامل للنظام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ما هي الأكاديمية الإلكترونية؟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منصة تعليمية متكاملة تهدف إلى رقمنة العملية التعليمية برمتها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نظام يربط بين أطراف العملية (طالب، معلم، إداري) في بيئة سحابية واحدة 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حل ذكي لإدارة المحتوى التعليمي والدروس التفاعلية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نظام مالي مدمج لتسهيل عمليات البيع والشراء والاشتراكات 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C7A061"/>
                </a:solidFill>
              </a:defRPr>
            </a:pPr>
            <a:r>
              <a:t>المتطلبات الوظيفية (Functional)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1. إدارة الهوية والصلاحيات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إمكانية إنشاء حسابات جديدة (طلاب ومعلمين)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نظام تسجيل دخول آمن باستخدام بروتوكول JWT 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تعدد رتب المستخدمين (Student, Teacher, Admin, Super Admin)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إدارة الملف الشخصي والتحقق من البريد الإلكتروني 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2. إدارة المحتوى التعليمي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إنشاء وتعديل الدورات التدريبية (للمعلمين)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رفع فيديوهات الدروس وإضافة المحتوى النصي 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إضافة ملحقات ووثائق تكميلية للدروس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تنظيم الدورات ضمن تصنيفات ومسارات تعليمية محددة 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3. النظام المالي والمحفظة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توفير محفظة إلكترونية لكل مستخدم (Wallet System)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إمكانية شحن الرصيد عبر بوابات الدفع الإلكترونية 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خصم تلقائي من الرصيد عند شراء الدورات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تتبع كامل لسجل العمليات المالية (Transactions History) 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نظام محاكاة الدفع للتأكد من سلامة العمليات 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4. التقييم والاختبارات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إنشاء اختبارات تفاعلية لكل درس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دعم أنواع متعددة من الأسئلة (Multiple Choice, True/False) 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تصحيح تلقائي للإجابات وتقديم النتيجة فوراً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متابعة سجل نتائج الطلاب وتحديد حالة النجاح والرسوب 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5. التواصل والتعليقات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نظام تعليقات مرن أسفل كل درس للنقاش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إمكانية الرد على التعليقات (Threaded Comments) 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تمييز تعليقات المعلمين لتقديم الإرشاد الأكاديمي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لوحة تحكم للمعلم لمتابعة كافة الاستفسارات الواردة 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C7A061"/>
                </a:solidFill>
              </a:defRPr>
            </a:pPr>
            <a:r>
              <a:t>المتطلبات غير الوظيفية (Non-Functional)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الأداء والأمان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2980B9"/>
                </a:solidFill>
              </a:defRPr>
            </a:pPr>
            <a:r>
              <a:t>الأداء (Performance)</a:t>
            </a:r>
          </a:p>
          <a:p>
            <a:pPr algn="r">
              <a:defRPr sz="1800"/>
            </a:pPr>
            <a:r>
              <a:t>سرعة تحميل الصفحات أقل من 2 ثانية •</a:t>
            </a:r>
          </a:p>
          <a:p>
            <a:pPr algn="r">
              <a:defRPr sz="1800"/>
            </a:pPr>
            <a:r>
              <a:t>دعم عدد كبير من المستخدمين المتزامنين •</a:t>
            </a:r>
          </a:p>
          <a:p>
            <a:pPr algn="r">
              <a:defRPr sz="1800"/>
            </a:pPr>
            <a:r>
              <a:t>تحميل الفيديوهات بسلاسة Dynamic Streaming 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2980B9"/>
                </a:solidFill>
              </a:defRPr>
            </a:pPr>
            <a:r>
              <a:t>الأمان (Security)</a:t>
            </a:r>
          </a:p>
          <a:p>
            <a:pPr algn="r">
              <a:defRPr sz="1800"/>
            </a:pPr>
            <a:r>
              <a:t>تشفير بيانات المستخدمين (End-to-End) •</a:t>
            </a:r>
          </a:p>
          <a:p>
            <a:pPr algn="r">
              <a:defRPr sz="1800"/>
            </a:pPr>
            <a:r>
              <a:t>حماية من هجمات XSS و SQL Injection •</a:t>
            </a:r>
          </a:p>
          <a:p>
            <a:pPr algn="r">
              <a:defRPr sz="1800"/>
            </a:pPr>
            <a:r>
              <a:t>تحديث دوري لـ Tokens للمصادقة 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سهولة الاستخدام والتوافق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2980B9"/>
                </a:solidFill>
              </a:defRPr>
            </a:pPr>
            <a:r>
              <a:t>تجربة المستخدم (UX)</a:t>
            </a:r>
          </a:p>
          <a:p>
            <a:pPr algn="r">
              <a:defRPr sz="1800"/>
            </a:pPr>
            <a:r>
              <a:t>واجهة بسيطة تدعم العربية بشكل طبيعي RTL •</a:t>
            </a:r>
          </a:p>
          <a:p>
            <a:pPr algn="r">
              <a:defRPr sz="1800"/>
            </a:pPr>
            <a:r>
              <a:t>ألوان مريحة للعين وتصميم عصري •</a:t>
            </a:r>
          </a:p>
          <a:p>
            <a:pPr algn="r">
              <a:defRPr sz="1800"/>
            </a:pPr>
            <a:r>
              <a:t>سهولة التنقل بين الأقسام بضغطة واحدة 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2980B9"/>
                </a:solidFill>
              </a:defRPr>
            </a:pPr>
            <a:r>
              <a:t>التوافقية (Compatibility)</a:t>
            </a:r>
          </a:p>
          <a:p>
            <a:pPr algn="r">
              <a:defRPr sz="1800"/>
            </a:pPr>
            <a:r>
              <a:t>متجاوب تماماً مع الهواتف الذكية •</a:t>
            </a:r>
          </a:p>
          <a:p>
            <a:pPr algn="r">
              <a:defRPr sz="1800"/>
            </a:pPr>
            <a:r>
              <a:t>متوافق مع كافة المتصفحات الحديثة •</a:t>
            </a:r>
          </a:p>
          <a:p>
            <a:pPr algn="r">
              <a:defRPr sz="1800"/>
            </a:pPr>
            <a:r>
              <a:t>يدعم مختلف أحجام الشاشات (Desktop, Tablet) 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C7A061"/>
                </a:solidFill>
              </a:defRPr>
            </a:pPr>
            <a:r>
              <a:t>سيناريوهات الاستخدام (User Scenarios)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السيناريو 1: رحلة الطالب (Student 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يسجل الطالب حساباً جديداً ويقوم بشحن محفظته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يتصفح المسارات التعليمية ويختار دورتين ويضيفهما للسلة 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يتمم الشراء ويبدأ بمشاهدة الفيديوهات وتسجيل الملاحظات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يحل الاختبارات، ينجح، ويتابع نسبة تقدمه حتى 100% 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السيناريو 2: رحلة المعلم (Teacher 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يقوم المعلم بإنشاء دورة جديدة ورفع 10 دروس فيديو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يضع 5 أسئلة لكل درس لتقييم فهم الطلاب 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يتابع تعليقات الطلاب ويرد على استفساراتهم التقنية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يحلل إحصائيات المبيعات وأداء الطلاب في الاختبارات 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السيناريو 3: رحلة المسؤول (Admin Path)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يقوم المسؤول بتغيير صور الواجهة (Sliders) لعرض عرض جديد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يضيف مسار تعليمي جديد (مثلاً: الذكاء الاصطناعي) 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يراجع إعلانات الوظائف ويحدث معلومات تواصل المؤسسة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يراقب الإيرادات الكلية ونمو قاعدة البيانات 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C7A061"/>
                </a:solidFill>
              </a:defRPr>
            </a:pPr>
            <a:r>
              <a:t>البنية التحتية والتقنيات (Tech Stack)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تكنولوجيات الواجهة (Frontend)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Next.js 14 كإطار عمل أساسي (App Router)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React.js لبناء الواجهات التفاعلية 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Tailwind CSS للتصميم المتجاوب والسريع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Zustand لإدارة الحالة العامة للتطبيق (State Management) 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تكنولوجيات الخلفية والربط (Backend &amp; API)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Server Actions لربط الواجهة بالبيانات بشكل مباشر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RESTful API للتعامل مع العمليات المعقدة 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JWT للمصادقة وتأمين الجلسات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PostgreSQL لإدارة قواعد البيانات العلائقية 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C7A061"/>
                </a:solidFill>
              </a:defRPr>
            </a:pPr>
            <a:r>
              <a:t>الخريطة المستقبلية والخاتمة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تطويرات قادمة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إطلاق تطبيقات الهواتف الذكية (Native Mobile Apps) 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دعم البث المباشر (Live Classes) مع المعلمين 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نظام إصدار شهادات رقمية موثقة بتقنية Blockchain 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>
                <a:solidFill>
                  <a:srgbClr val="2C3E50"/>
                </a:solidFill>
              </a:defRPr>
            </a:pPr>
            <a:r>
              <a:t>إدخال الذكاء الاصطناعي لتخصيص مسار التعلم لكل طالب 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>
            <a:off x="914400" y="1828800"/>
            <a:ext cx="10058400" cy="3200400"/>
          </a:xfrm>
          <a:prstGeom prst="chevron">
            <a:avLst/>
          </a:prstGeom>
          <a:solidFill>
            <a:srgbClr val="C7A0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منصة الأكاديمية الإلكترونية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7A061"/>
                </a:solidFill>
              </a:defRPr>
            </a:pPr>
            <a:r>
              <a:t>التوثيق الشامل للنظام: المتطلبات، السيناريوهات، والمعمارية التقنية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