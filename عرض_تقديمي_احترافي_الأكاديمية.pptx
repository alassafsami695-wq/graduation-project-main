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توزيع التخصصات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اللغات</c:v>
                </c:pt>
                <c:pt idx="1">
                  <c:v>البرمجة</c:v>
                </c:pt>
                <c:pt idx="2">
                  <c:v>العلوم</c:v>
                </c:pt>
                <c:pt idx="3">
                  <c:v>التسويق</c:v>
                </c:pt>
                <c:pt idx="4">
                  <c:v>الفنون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45</c:v>
                </c:pt>
                <c:pt idx="2">
                  <c:v>20</c:v>
                </c:pt>
                <c:pt idx="3">
                  <c:v>25</c:v>
                </c:pt>
                <c:pt idx="4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الطلاب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 (الربع الأول)</c:v>
                </c:pt>
                <c:pt idx="2">
                  <c:v>2024 (الربع الثاني)</c:v>
                </c:pt>
                <c:pt idx="3">
                  <c:v>2025 (المستهدف)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1200</c:v>
                </c:pt>
                <c:pt idx="2">
                  <c:v>2500</c:v>
                </c:pt>
                <c:pt idx="3">
                  <c:v>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الأكاديمية الإلكترونية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>
              <a:defRPr sz="2800" b="0">
                <a:solidFill>
                  <a:srgbClr val="008080"/>
                </a:solidFill>
              </a:defRPr>
            </a:pPr>
            <a:r>
              <a:t>مستقبل التعليم الرقمي بين يديك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400" b="1">
                <a:solidFill>
                  <a:srgbClr val="003366"/>
                </a:solidFill>
              </a:defRPr>
            </a:pPr>
            <a:r>
              <a:t>لماذا الأكاديمية الإلكترونية؟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r">
              <a:spcBef>
                <a:spcPts val="1000"/>
              </a:spcBef>
              <a:defRPr sz="2000"/>
            </a:pPr>
            <a:r>
              <a:t>منصة متكاملة تجمع بين سهولة الاستخدام وقوة الأداء</a:t>
            </a:r>
          </a:p>
          <a:p>
            <a:pPr algn="r">
              <a:spcBef>
                <a:spcPts val="1000"/>
              </a:spcBef>
              <a:defRPr sz="2000"/>
            </a:pPr>
            <a:r>
              <a:t>توفير بيئة تعليمية تفاعلية للطلاب والمعلمين</a:t>
            </a:r>
          </a:p>
          <a:p>
            <a:pPr algn="r">
              <a:spcBef>
                <a:spcPts val="1000"/>
              </a:spcBef>
              <a:defRPr sz="2000"/>
            </a:pPr>
            <a:r>
              <a:t>نظام مالي آمن لإدارة المشتريات والرواتب</a:t>
            </a:r>
          </a:p>
          <a:p>
            <a:pPr algn="r">
              <a:spcBef>
                <a:spcPts val="1000"/>
              </a:spcBef>
              <a:defRPr sz="2000"/>
            </a:pPr>
            <a:r>
              <a:t>متابعة دقيقة لمستوى التقدم والنجاح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إحصائيات المنصة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200" b="1">
                <a:solidFill>
                  <a:srgbClr val="003366"/>
                </a:solidFill>
              </a:defRPr>
            </a:pPr>
            <a:r>
              <a:t>توزيع الدورات حسب التخصص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200" b="1">
                <a:solidFill>
                  <a:srgbClr val="003366"/>
                </a:solidFill>
              </a:defRPr>
            </a:pPr>
            <a:r>
              <a:t>نمو قاعدة المتعلمين (تقديري)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أبرز المميزات للمستخدم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400" b="1">
                <a:solidFill>
                  <a:srgbClr val="003366"/>
                </a:solidFill>
              </a:defRPr>
            </a:pPr>
            <a:r>
              <a:t>ميزات الطالب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r">
              <a:spcBef>
                <a:spcPts val="1000"/>
              </a:spcBef>
              <a:defRPr sz="2000"/>
            </a:pPr>
            <a:r>
              <a:t>محفظة رقمية ذكية للشحن والشراء السريع</a:t>
            </a:r>
          </a:p>
          <a:p>
            <a:pPr algn="r">
              <a:spcBef>
                <a:spcPts val="1000"/>
              </a:spcBef>
              <a:defRPr sz="2000"/>
            </a:pPr>
            <a:r>
              <a:t>مشغل فيديو احترافي يدعم جودات مختلفة</a:t>
            </a:r>
          </a:p>
          <a:p>
            <a:pPr algn="r">
              <a:spcBef>
                <a:spcPts val="1000"/>
              </a:spcBef>
              <a:defRPr sz="2000"/>
            </a:pPr>
            <a:r>
              <a:t>نظام اختبارات ذكي يصحح النتائج فوراً</a:t>
            </a:r>
          </a:p>
          <a:p>
            <a:pPr algn="r">
              <a:spcBef>
                <a:spcPts val="1000"/>
              </a:spcBef>
              <a:defRPr sz="2000"/>
            </a:pPr>
            <a:r>
              <a:t>إمكانية التواصل المباشر مع المعلمين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400" b="1">
                <a:solidFill>
                  <a:srgbClr val="003366"/>
                </a:solidFill>
              </a:defRPr>
            </a:pPr>
            <a:r>
              <a:t>ميزات المعلم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r">
              <a:spcBef>
                <a:spcPts val="1000"/>
              </a:spcBef>
              <a:defRPr sz="2000"/>
            </a:pPr>
            <a:r>
              <a:t>لوحة تحكم شاملة لإدارة المحتوى والطلبة</a:t>
            </a:r>
          </a:p>
          <a:p>
            <a:pPr algn="r">
              <a:spcBef>
                <a:spcPts val="1000"/>
              </a:spcBef>
              <a:defRPr sz="2000"/>
            </a:pPr>
            <a:r>
              <a:t>أدوات بناء دروس تفاعلية (فيديو + نص + اختبارات)</a:t>
            </a:r>
          </a:p>
          <a:p>
            <a:pPr algn="r">
              <a:spcBef>
                <a:spcPts val="1000"/>
              </a:spcBef>
              <a:defRPr sz="2000"/>
            </a:pPr>
            <a:r>
              <a:t>تقارير أداء مفصلة لكل طالب</a:t>
            </a:r>
          </a:p>
          <a:p>
            <a:pPr algn="r">
              <a:spcBef>
                <a:spcPts val="1000"/>
              </a:spcBef>
              <a:defRPr sz="2000"/>
            </a:pPr>
            <a:r>
              <a:t>نظام سحب أرباح ميسر وآمن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كيف تستخدم التطبيق؟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200" b="1">
                <a:solidFill>
                  <a:srgbClr val="008080"/>
                </a:solidFill>
              </a:defRPr>
            </a:pPr>
            <a:r>
              <a:t>دليل الاستخدام: للطالب المبتدئ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r">
              <a:spcAft>
                <a:spcPts val="1500"/>
              </a:spcAft>
              <a:defRPr sz="2200"/>
            </a:pPr>
            <a:r>
              <a:t>1. أنشئ حساباً جديداً وقم بتفعيل بريدك الإلكتروني</a:t>
            </a:r>
          </a:p>
          <a:p>
            <a:pPr algn="r">
              <a:spcAft>
                <a:spcPts val="1500"/>
              </a:spcAft>
              <a:defRPr sz="2200"/>
            </a:pPr>
            <a:r>
              <a:t>2. اشحن محفظتك من خلال صفحة الإيداع</a:t>
            </a:r>
          </a:p>
          <a:p>
            <a:pPr algn="r">
              <a:spcAft>
                <a:spcPts val="1500"/>
              </a:spcAft>
              <a:defRPr sz="2200"/>
            </a:pPr>
            <a:r>
              <a:t>3. تصفح قائمة الدورات واختر ما يناسبك</a:t>
            </a:r>
          </a:p>
          <a:p>
            <a:pPr algn="r">
              <a:spcAft>
                <a:spcPts val="1500"/>
              </a:spcAft>
              <a:defRPr sz="2200"/>
            </a:pPr>
            <a:r>
              <a:t>4. أضف الدورة للسلة وأكمل عملية الشراء</a:t>
            </a:r>
          </a:p>
          <a:p>
            <a:pPr algn="r">
              <a:spcAft>
                <a:spcPts val="1500"/>
              </a:spcAft>
              <a:defRPr sz="2200"/>
            </a:pPr>
            <a:r>
              <a:t>5. ابدأ بمشاهدة الدروس وحل الاختبارات فوراً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200" b="1">
                <a:solidFill>
                  <a:srgbClr val="008080"/>
                </a:solidFill>
              </a:defRPr>
            </a:pPr>
            <a:r>
              <a:t>دليل الاستخدام: للمعلم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r">
              <a:spcAft>
                <a:spcPts val="1500"/>
              </a:spcAft>
              <a:defRPr sz="2200"/>
            </a:pPr>
            <a:r>
              <a:t>1. سجل كمعلم واملأ بيانات ملفك الشخصي</a:t>
            </a:r>
          </a:p>
          <a:p>
            <a:pPr algn="r">
              <a:spcAft>
                <a:spcPts val="1500"/>
              </a:spcAft>
              <a:defRPr sz="2200"/>
            </a:pPr>
            <a:r>
              <a:t>2. ابدأ بإنشاء دورة جديدة (أضف العنوان والصورة والسعر)</a:t>
            </a:r>
          </a:p>
          <a:p>
            <a:pPr algn="r">
              <a:spcAft>
                <a:spcPts val="1500"/>
              </a:spcAft>
              <a:defRPr sz="2200"/>
            </a:pPr>
            <a:r>
              <a:t>3. أضف الدروس وقم برفع مقاطع الفيديو</a:t>
            </a:r>
          </a:p>
          <a:p>
            <a:pPr algn="r">
              <a:spcAft>
                <a:spcPts val="1500"/>
              </a:spcAft>
              <a:defRPr sz="2200"/>
            </a:pPr>
            <a:r>
              <a:t>4. أنشئ اختبارات لتقييم فهم الطلاب</a:t>
            </a:r>
          </a:p>
          <a:p>
            <a:pPr algn="r">
              <a:spcAft>
                <a:spcPts val="1500"/>
              </a:spcAft>
              <a:defRPr sz="2200"/>
            </a:pPr>
            <a:r>
              <a:t>5. تابع تعليقات الطلاب والرد على استفساراتهم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r">
              <a:defRPr sz="3400" b="1">
                <a:solidFill>
                  <a:srgbClr val="003366"/>
                </a:solidFill>
              </a:defRPr>
            </a:pPr>
            <a:r>
              <a:t>الأمان والخصوصية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r">
              <a:spcBef>
                <a:spcPts val="1000"/>
              </a:spcBef>
              <a:defRPr sz="2000"/>
            </a:pPr>
            <a:r>
              <a:t>تشفير بيانات المستخدم تماماً (JWT)</a:t>
            </a:r>
          </a:p>
          <a:p>
            <a:pPr algn="r">
              <a:spcBef>
                <a:spcPts val="1000"/>
              </a:spcBef>
              <a:defRPr sz="2000"/>
            </a:pPr>
            <a:r>
              <a:t>نظام تحقق من الهوية قبل العمليات المالية</a:t>
            </a:r>
          </a:p>
          <a:p>
            <a:pPr algn="r">
              <a:spcBef>
                <a:spcPts val="1000"/>
              </a:spcBef>
              <a:defRPr sz="2000"/>
            </a:pPr>
            <a:r>
              <a:t>نسخ احتياطي دوري لقاعدة البيانات</a:t>
            </a:r>
          </a:p>
          <a:p>
            <a:pPr algn="r">
              <a:spcBef>
                <a:spcPts val="1000"/>
              </a:spcBef>
              <a:defRPr sz="2000"/>
            </a:pPr>
            <a:r>
              <a:t>دعم فني متاح للرد على المشاكل عبر الواتساب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شكراً لاهتمامكم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>
              <a:defRPr sz="2800" b="0">
                <a:solidFill>
                  <a:srgbClr val="008080"/>
                </a:solidFill>
              </a:defRPr>
            </a:pPr>
            <a:r>
              <a:t>نسعى دائماً لتطوير تجربة تعليمية لا تُنسى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